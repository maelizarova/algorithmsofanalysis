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457A7"/>
                </a:solidFill>
                <a:latin typeface="Calibri"/>
              </a:rPr>
              <a:t>ИТОГОВЫЙ ВАРИАНТ  ·  T−2  ·  ГОРИЗОНТ 30 ДНЕЙ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72033"/>
                </a:solidFill>
                <a:latin typeface="Calibri"/>
              </a:rPr>
              <a:t>Алгоритм прогнозирования
кассовой потребности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F6B7A"/>
                </a:solidFill>
                <a:latin typeface="Calibri"/>
              </a:rPr>
              <a:t>Центральный прогноз SARIMA + иерархическая калибровка ошибок
и адаптивный квантиль под целевые ~15% невыдач.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429000"/>
            <a:ext cx="10789920" cy="11430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72033"/>
                </a:solidFill>
                <a:latin typeface="Calibri"/>
              </a:rPr>
              <a:t>Основная идея. </a:t>
            </a:r>
            <a:r>
              <a:rPr sz="1600" b="0">
                <a:solidFill>
                  <a:srgbClr val="172033"/>
                </a:solidFill>
                <a:latin typeface="Calibri"/>
              </a:rPr>
              <a:t>SARIMA даёт наиболее вероятную потребность. Затем прогноз сдвигается в более консервативную сторону по недавним ошибкам всех касс и конкретной кассы. Сила консервативности корректируется автоматически.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846320"/>
            <a:ext cx="3383280" cy="12344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2457A7"/>
                </a:solidFill>
                <a:latin typeface="Calibri"/>
              </a:rPr>
              <a:t>15,09%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5F6B7A"/>
                </a:solidFill>
                <a:latin typeface="Calibri"/>
              </a:rPr>
              <a:t>невыдач итоговой модели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4846320"/>
            <a:ext cx="3383280" cy="12344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2457A7"/>
                </a:solidFill>
                <a:latin typeface="Calibri"/>
              </a:rPr>
              <a:t>−15%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5F6B7A"/>
                </a:solidFill>
                <a:latin typeface="Calibri"/>
              </a:rPr>
              <a:t>MAE относительно старой модели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4846320"/>
            <a:ext cx="3383280" cy="12344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2457A7"/>
                </a:solidFill>
                <a:latin typeface="Calibri"/>
              </a:rPr>
              <a:t>−20%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5F6B7A"/>
                </a:solidFill>
                <a:latin typeface="Calibri"/>
              </a:rPr>
              <a:t>MAE95 относительно старой модели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Кассовая потребность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F6B7A"/>
                </a:solidFill>
                <a:latin typeface="Calibri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457A7"/>
                </a:solidFill>
                <a:latin typeface="Calibri"/>
              </a:rPr>
              <a:t>1. ИТОГОВЫЕ РЕЗУЛЬТАТЫ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72033"/>
                </a:solidFill>
                <a:latin typeface="Calibri"/>
              </a:rPr>
              <a:t>Ретро: 15.04.2026–15.06.2026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B7A"/>
                </a:solidFill>
                <a:latin typeface="Calibri"/>
              </a:rPr>
              <a:t>Сравнение на первом дне горизонта, только строки с отрицательным фактом NS и старым прогнозом.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554480"/>
                <a:gridCol w="1554480"/>
                <a:gridCol w="1554480"/>
                <a:gridCol w="1554480"/>
                <a:gridCol w="155448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F6B7A"/>
                          </a:solidFill>
                          <a:latin typeface="Calibri"/>
                        </a:rPr>
                        <a:t>Модель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5F6B7A"/>
                          </a:solidFill>
                          <a:latin typeface="Calibri"/>
                        </a:rPr>
                        <a:t>Невыдачи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5F6B7A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5F6B7A"/>
                          </a:solidFill>
                          <a:latin typeface="Calibri"/>
                        </a:rPr>
                        <a:t>MAE95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5F6B7A"/>
                          </a:solidFill>
                          <a:latin typeface="Calibri"/>
                        </a:rPr>
                        <a:t>Медиана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5F6B7A"/>
                          </a:solidFill>
                          <a:latin typeface="Calibri"/>
                        </a:rPr>
                        <a:t>P90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72033"/>
                          </a:solidFill>
                          <a:latin typeface="Calibri"/>
                        </a:rPr>
                        <a:t>Старый forecast_model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72033"/>
                          </a:solidFill>
                          <a:latin typeface="Calibri"/>
                        </a:rPr>
                        <a:t>13,36%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72033"/>
                          </a:solidFill>
                          <a:latin typeface="Calibri"/>
                        </a:rPr>
                        <a:t>7,29 млн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72033"/>
                          </a:solidFill>
                          <a:latin typeface="Calibri"/>
                        </a:rPr>
                        <a:t>5,58 млн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72033"/>
                          </a:solidFill>
                          <a:latin typeface="Calibri"/>
                        </a:rPr>
                        <a:t>3,09 млн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72033"/>
                          </a:solidFill>
                          <a:latin typeface="Calibri"/>
                        </a:rPr>
                        <a:t>10,74 млн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72033"/>
                          </a:solidFill>
                          <a:latin typeface="Calibri"/>
                        </a:rPr>
                        <a:t>Центральный SARIMA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72033"/>
                          </a:solidFill>
                          <a:latin typeface="Calibri"/>
                        </a:rPr>
                        <a:t>42,46%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72033"/>
                          </a:solidFill>
                          <a:latin typeface="Calibri"/>
                        </a:rPr>
                        <a:t>3,25 млн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72033"/>
                          </a:solidFill>
                          <a:latin typeface="Calibri"/>
                        </a:rPr>
                        <a:t>2,15 млн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72033"/>
                          </a:solidFill>
                          <a:latin typeface="Calibri"/>
                        </a:rPr>
                        <a:t>1,18 млн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72033"/>
                          </a:solidFill>
                          <a:latin typeface="Calibri"/>
                        </a:rPr>
                        <a:t>6,30 млн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72033"/>
                          </a:solidFill>
                          <a:latin typeface="Calibri"/>
                        </a:rPr>
                        <a:t>Адаптивный алгоритм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172033"/>
                          </a:solidFill>
                          <a:latin typeface="Calibri"/>
                        </a:rPr>
                        <a:t>15,09%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172033"/>
                          </a:solidFill>
                          <a:latin typeface="Calibri"/>
                        </a:rPr>
                        <a:t>6,21 млн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172033"/>
                          </a:solidFill>
                          <a:latin typeface="Calibri"/>
                        </a:rPr>
                        <a:t>4,47 млн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172033"/>
                          </a:solidFill>
                          <a:latin typeface="Calibri"/>
                        </a:rPr>
                        <a:t>2,47 млн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172033"/>
                          </a:solidFill>
                          <a:latin typeface="Calibri"/>
                        </a:rPr>
                        <a:t>9,20 млн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297680"/>
            <a:ext cx="5303520" cy="1554480"/>
          </a:xfrm>
          <a:prstGeom prst="roundRect">
            <a:avLst>
              <a:gd name="adj" fmla="val 8000"/>
            </a:avLst>
          </a:prstGeom>
          <a:solidFill>
            <a:srgbClr val="E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F6B4A"/>
                </a:solidFill>
                <a:latin typeface="Calibri"/>
              </a:rPr>
              <a:t>Улучшение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F6B4A"/>
                </a:solidFill>
                <a:latin typeface="Calibri"/>
              </a:rPr>
              <a:t>При 15,09% невыдач MAE −15%, MAE95 −20%, медиана −20%. Смещение также уменьшилось.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297680"/>
            <a:ext cx="5303520" cy="155448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8A5A12"/>
                </a:solidFill>
                <a:latin typeface="Calibri"/>
              </a:rPr>
              <a:t>Дополнительно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8A5A12"/>
                </a:solidFill>
                <a:latin typeface="Calibri"/>
              </a:rPr>
              <a:t>P90 снизился с 10,74 до 9,20 млн — улучшение и в верхней части распределения ошибок.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Кассовая потребность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F6B7A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457A7"/>
                </a:solidFill>
                <a:latin typeface="Calibri"/>
              </a:rPr>
              <a:t>2. ЧТО ПРОГНОЗИРУЕТСЯ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72033"/>
                </a:solidFill>
                <a:latin typeface="Calibri"/>
              </a:rPr>
              <a:t>Ключевые понятия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3949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72033"/>
                </a:solidFill>
                <a:latin typeface="Calibri"/>
              </a:rPr>
              <a:t>atdtmco_ns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5F6B7A"/>
                </a:solidFill>
                <a:latin typeface="Calibri"/>
              </a:rPr>
              <a:t>Минимальная потребность кассы за день. Значения отрицательные: чем меньше число, тем больше потребность.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325880"/>
            <a:ext cx="53949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72033"/>
                </a:solidFill>
                <a:latin typeface="Calibri"/>
              </a:rPr>
              <a:t>atdtmco_saldo_turn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5F6B7A"/>
                </a:solidFill>
                <a:latin typeface="Calibri"/>
              </a:rPr>
              <a:t>Дневной денежный поток. Прогнозируется отдельно как временной ряд.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51760"/>
            <a:ext cx="53949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72033"/>
                </a:solidFill>
                <a:latin typeface="Calibri"/>
              </a:rPr>
              <a:t>Невыдача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5F6B7A"/>
                </a:solidFill>
                <a:latin typeface="Calibri"/>
              </a:rPr>
              <a:t>Факт оказался более отрицательным, чем прогноз: fact &lt; prediction. Предусмотренного объёма не хватило.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651760"/>
            <a:ext cx="53949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72033"/>
                </a:solidFill>
                <a:latin typeface="Calibri"/>
              </a:rPr>
              <a:t>T−2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5F6B7A"/>
                </a:solidFill>
                <a:latin typeface="Calibri"/>
              </a:rPr>
              <a:t>Для скоринга на дату D разрешены факты не позднее D−2. Будущие данные не используются.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977639"/>
            <a:ext cx="53949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72033"/>
                </a:solidFill>
                <a:latin typeface="Calibri"/>
              </a:rPr>
              <a:t>Central SARIMA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5F6B7A"/>
                </a:solidFill>
                <a:latin typeface="Calibri"/>
              </a:rPr>
              <a:t>Точечный прогноз до консервативной поправки на риск невыдачи.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977639"/>
            <a:ext cx="53949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72033"/>
                </a:solidFill>
                <a:latin typeface="Calibri"/>
              </a:rPr>
              <a:t>Scale кассы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5F6B7A"/>
                </a:solidFill>
                <a:latin typeface="Calibri"/>
              </a:rPr>
              <a:t>Медиана |NS| по отрицательным фактам кассы за последние 224 дня. Делает ошибки разных касс сопоставимыми.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394960"/>
            <a:ext cx="10881360" cy="77724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8A5A12"/>
                </a:solidFill>
                <a:latin typeface="Calibri"/>
              </a:rPr>
              <a:t>Знак NS важно не перепутать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8A5A12"/>
                </a:solidFill>
                <a:latin typeface="Calibri"/>
              </a:rPr>
              <a:t>Факт −12 млн хуже прогноза −10 млн: касса потребовала на 2 млн больше, чем было предусмотрено.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Кассовая потребность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F6B7A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457A7"/>
                </a:solidFill>
                <a:latin typeface="Calibri"/>
              </a:rPr>
              <a:t>3. ПОЛНЫЙ ПОТОК РАСЧЁТА НА ДАТУ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72033"/>
                </a:solidFill>
                <a:latin typeface="Calibri"/>
              </a:rPr>
              <a:t>Шесть шагов алгоритма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457A7"/>
                </a:solidFill>
                <a:latin typeface="Calibri"/>
              </a:rPr>
              <a:t>1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72033"/>
                </a:solidFill>
                <a:latin typeface="Calibri"/>
              </a:rPr>
              <a:t>Подготовить историю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F6B7A"/>
                </a:solidFill>
                <a:latin typeface="Calibri"/>
              </a:rPr>
              <a:t>Данные до D−2. Закрытые дни остаются NaN, а не искусственными нулями.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457A7"/>
                </a:solidFill>
                <a:latin typeface="Calibri"/>
              </a:rPr>
              <a:t>2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72033"/>
                </a:solidFill>
                <a:latin typeface="Calibri"/>
              </a:rPr>
              <a:t>Central SARIMA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F6B7A"/>
                </a:solidFill>
                <a:latin typeface="Calibri"/>
              </a:rPr>
              <a:t>На последних 12 месяцах строится центральный прогноз с недельной сезонностью.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59" y="137160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457A7"/>
                </a:solidFill>
                <a:latin typeface="Calibri"/>
              </a:rPr>
              <a:t>3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72033"/>
                </a:solidFill>
                <a:latin typeface="Calibri"/>
              </a:rPr>
              <a:t>Собрать ошибки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F6B7A"/>
                </a:solidFill>
                <a:latin typeface="Calibri"/>
              </a:rPr>
              <a:t>Только ошибки прошлых прогнозов, факт которых уже доступен на текущем D−2.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61188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457A7"/>
                </a:solidFill>
                <a:latin typeface="Calibri"/>
              </a:rPr>
              <a:t>4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72033"/>
                </a:solidFill>
                <a:latin typeface="Calibri"/>
              </a:rPr>
              <a:t>Нормировать и объединить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F6B7A"/>
                </a:solidFill>
                <a:latin typeface="Calibri"/>
              </a:rPr>
              <a:t>Ошибки делятся на scale кассы. Общая история смешивается с историей конкретной кассы.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61188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457A7"/>
                </a:solidFill>
                <a:latin typeface="Calibri"/>
              </a:rPr>
              <a:t>5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72033"/>
                </a:solidFill>
                <a:latin typeface="Calibri"/>
              </a:rPr>
              <a:t>Адаптивный квантиль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F6B7A"/>
                </a:solidFill>
                <a:latin typeface="Calibri"/>
              </a:rPr>
              <a:t>Из распределения ошибок берётся текущий квантиль отдельно для каждого горизонта.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59" y="361188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457A7"/>
                </a:solidFill>
                <a:latin typeface="Calibri"/>
              </a:rPr>
              <a:t>6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72033"/>
                </a:solidFill>
                <a:latin typeface="Calibri"/>
              </a:rPr>
              <a:t>Сформировать прогноз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F6B7A"/>
                </a:solidFill>
                <a:latin typeface="Calibri"/>
              </a:rPr>
              <a:t>Поправка × scale добавляется к central SARIMA. На закрытый день прогноз = 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Кассовая потребность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F6B7A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457A7"/>
                </a:solidFill>
                <a:latin typeface="Calibri"/>
              </a:rPr>
              <a:t>КОРОТКИЙ ИТОГ ДЛЯ ОБСУЖДЕНИЯ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72033"/>
                </a:solidFill>
                <a:latin typeface="Calibri"/>
              </a:rPr>
              <a:t>Что важно запомнить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394960" cy="15544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72033"/>
                </a:solidFill>
                <a:latin typeface="Calibri"/>
              </a:rPr>
              <a:t>1. Цель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F6B7A"/>
                </a:solidFill>
                <a:latin typeface="Calibri"/>
              </a:rPr>
              <a:t>Держать невыдачи около 15% и снижать типичную ошибку относительно старого алгоритма.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371600"/>
            <a:ext cx="5394960" cy="15544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72033"/>
                </a:solidFill>
                <a:latin typeface="Calibri"/>
              </a:rPr>
              <a:t>2. Как это устроено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F6B7A"/>
                </a:solidFill>
                <a:latin typeface="Calibri"/>
              </a:rPr>
              <a:t>SARIMA даёт центр. Иерархическая поправка по ошибкам всех касс и конкретной кассы делает прогноз консервативнее.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08960"/>
            <a:ext cx="5394960" cy="15544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72033"/>
                </a:solidFill>
                <a:latin typeface="Calibri"/>
              </a:rPr>
              <a:t>3. Честный ретро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F6B7A"/>
                </a:solidFill>
                <a:latin typeface="Calibri"/>
              </a:rPr>
              <a:t>Каждый день использует только данные до T−2. Параметры окна и стягивания выбирались до тестового периода.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108960"/>
            <a:ext cx="5394960" cy="15544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72033"/>
                </a:solidFill>
                <a:latin typeface="Calibri"/>
              </a:rPr>
              <a:t>4. Результат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F6B7A"/>
                </a:solidFill>
                <a:latin typeface="Calibri"/>
              </a:rPr>
              <a:t>15,09% невыдач, MAE −15%, MAE95 −20%, P90 −14% к старой модели на периоде 15.04–15.06.2026.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29200"/>
            <a:ext cx="10881360" cy="105156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72033"/>
                </a:solidFill>
                <a:latin typeface="Calibri"/>
              </a:rPr>
              <a:t>Выбранные параметры: </a:t>
            </a:r>
            <a:r>
              <a:rPr sz="1600" b="1">
                <a:solidFill>
                  <a:srgbClr val="172033"/>
                </a:solidFill>
                <a:latin typeface="Calibri"/>
              </a:rPr>
              <a:t>окно ошибок и scale = 224 дня, сила стягивания = 20.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Кассовая потребность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F6B7A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457A7"/>
                </a:solidFill>
                <a:latin typeface="Calibri"/>
              </a:rPr>
              <a:t>ПРОГНОЗ SALDO_TURN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72033"/>
                </a:solidFill>
                <a:latin typeface="Calibri"/>
              </a:rPr>
              <a:t>Дневной денежный поток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F6B7A"/>
                </a:solidFill>
                <a:latin typeface="Calibri"/>
              </a:rPr>
              <a:t>atdtmco_saldo_turn прогнозируется отдельно: guarded SARIMA на истории до D−2. Иерархическая калибровка и адаптивный квантиль относятся только к 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72033"/>
                </a:solidFill>
                <a:latin typeface="Calibri"/>
              </a:rPr>
              <a:t>Что это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5F6B7A"/>
                </a:solidFill>
                <a:latin typeface="Calibri"/>
              </a:rPr>
              <a:t>Дневной денежный поток кассы. Отдельный временной ряд, не связанный напрямую с риском невыдачи 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72033"/>
                </a:solidFill>
                <a:latin typeface="Calibri"/>
              </a:rPr>
              <a:t>Как считаем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5F6B7A"/>
                </a:solidFill>
                <a:latin typeface="Calibri"/>
              </a:rPr>
              <a:t>Guarded SARIMA на 12 месяцах до T−2. При сбое модели — медианы по дням недели.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59" y="173736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72033"/>
                </a:solidFill>
                <a:latin typeface="Calibri"/>
              </a:rPr>
              <a:t>Чего нет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5F6B7A"/>
                </a:solidFill>
                <a:latin typeface="Calibri"/>
              </a:rPr>
              <a:t>Нет поправки по ошибкам и адаптивного квантиля. Это центральный прогноз потока.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383280"/>
          <a:ext cx="1124712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097280"/>
                <a:gridCol w="914400"/>
                <a:gridCol w="1371600"/>
                <a:gridCol w="1371600"/>
                <a:gridCol w="1371600"/>
                <a:gridCol w="1371600"/>
                <a:gridCol w="1554480"/>
              </a:tblGrid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F6B7A"/>
                          </a:solidFill>
                          <a:latin typeface="Calibri"/>
                        </a:rPr>
                        <a:t>Вариант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5F6B7A"/>
                          </a:solidFill>
                          <a:latin typeface="Calibri"/>
                        </a:rPr>
                        <a:t>Строк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5F6B7A"/>
                          </a:solidFill>
                          <a:latin typeface="Calibri"/>
                        </a:rPr>
                        <a:t>Касс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5F6B7A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5F6B7A"/>
                          </a:solidFill>
                          <a:latin typeface="Calibri"/>
                        </a:rPr>
                        <a:t>MAE95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5F6B7A"/>
                          </a:solidFill>
                          <a:latin typeface="Calibri"/>
                        </a:rPr>
                        <a:t>Медиана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5F6B7A"/>
                          </a:solidFill>
                          <a:latin typeface="Calibri"/>
                        </a:rPr>
                        <a:t>P90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5F6B7A"/>
                          </a:solidFill>
                          <a:latin typeface="Calibri"/>
                        </a:rPr>
                        <a:t>Смещение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72033"/>
                          </a:solidFill>
                          <a:latin typeface="Calibri"/>
                        </a:rPr>
                        <a:t>SARIMA saldo_turn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72033"/>
                          </a:solidFill>
                          <a:latin typeface="Calibri"/>
                        </a:rPr>
                        <a:t>4 753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72033"/>
                          </a:solidFill>
                          <a:latin typeface="Calibri"/>
                        </a:rPr>
                        <a:t>122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72033"/>
                          </a:solidFill>
                          <a:latin typeface="Calibri"/>
                        </a:rPr>
                        <a:t>4,62 млн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72033"/>
                          </a:solidFill>
                          <a:latin typeface="Calibri"/>
                        </a:rPr>
                        <a:t>2,93 млн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72033"/>
                          </a:solidFill>
                          <a:latin typeface="Calibri"/>
                        </a:rPr>
                        <a:t>1,61 млн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72033"/>
                          </a:solidFill>
                          <a:latin typeface="Calibri"/>
                        </a:rPr>
                        <a:t>9,37 млн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72033"/>
                          </a:solidFill>
                          <a:latin typeface="Calibri"/>
                        </a:rPr>
                        <a:t>+0,37 млн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4846320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E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6B4A"/>
                </a:solidFill>
                <a:latin typeface="Calibri"/>
              </a:rPr>
              <a:t>Как читать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F6B4A"/>
                </a:solidFill>
                <a:latin typeface="Calibri"/>
              </a:rPr>
              <a:t>Типичная ошибка около 1,6 млн (медиана), MAE95 ≈ 2,93 млн. Смещение небольшое: +0,37 млн.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846320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8A5A12"/>
                </a:solidFill>
                <a:latin typeface="Calibri"/>
              </a:rPr>
              <a:t>Важно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8A5A12"/>
                </a:solidFill>
                <a:latin typeface="Calibri"/>
              </a:rPr>
              <a:t>Закрытые дни в метриках исключены. Невыдачи и адаптивный квантиль — только для NS, не для saldo.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Кассовая потребность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F6B7A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