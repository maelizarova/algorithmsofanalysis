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57A7"/>
                </a:solidFill>
                <a:latin typeface="Calibri"/>
              </a:rPr>
              <a:t>ИТОГОВЫЙ ВАРИАНТ  ·  T−2  ·  ГОРИЗОНТ 30 ДНЕЙ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72033"/>
                </a:solidFill>
                <a:latin typeface="Calibri"/>
              </a:rPr>
              <a:t>Алгоритм прогнозирования
кассовой потребности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F6B7A"/>
                </a:solidFill>
                <a:latin typeface="Calibri"/>
              </a:rPr>
              <a:t>Центральный прогноз SARIMA + иерархическая калибровка ошибок
и адаптивный квантиль под целевые ~15% невыдач.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29000"/>
            <a:ext cx="10789920" cy="1143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72033"/>
                </a:solidFill>
                <a:latin typeface="Calibri"/>
              </a:rPr>
              <a:t>Основная идея. </a:t>
            </a:r>
            <a:r>
              <a:rPr sz="1600" b="0">
                <a:solidFill>
                  <a:srgbClr val="172033"/>
                </a:solidFill>
                <a:latin typeface="Calibri"/>
              </a:rPr>
              <a:t>SARIMA даёт наиболее вероятную потребность. Затем прогноз сдвигается в более консервативную сторону по недавним ошибкам всех касс и конкретной кассы. Сила консервативности корректируется автоматически.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463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2457A7"/>
                </a:solidFill>
                <a:latin typeface="Calibri"/>
              </a:rPr>
              <a:t>15,09%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невыдач итоговой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48463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2457A7"/>
                </a:solidFill>
                <a:latin typeface="Calibri"/>
              </a:rPr>
              <a:t>−15%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MAE относительно старой модели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48463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2457A7"/>
                </a:solidFill>
                <a:latin typeface="Calibri"/>
              </a:rPr>
              <a:t>−20%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MAE95 относительно старой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Кассовая потребность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57A7"/>
                </a:solidFill>
                <a:latin typeface="Calibri"/>
              </a:rPr>
              <a:t>1. ИТОГОВЫЕ 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Calibri"/>
              </a:rPr>
              <a:t>Ретро: 15.04.2026–15.06.2026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B7A"/>
                </a:solidFill>
                <a:latin typeface="Calibri"/>
              </a:rPr>
              <a:t>Сравнение на первом дне горизонта, только строки с отрицательным фактом NS и старым прогнозом.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554480"/>
                <a:gridCol w="1554480"/>
                <a:gridCol w="1554480"/>
                <a:gridCol w="1554480"/>
                <a:gridCol w="155448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6B7A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6B7A"/>
                          </a:solidFill>
                          <a:latin typeface="Calibri"/>
                        </a:rPr>
                        <a:t>Невыдачи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6B7A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6B7A"/>
                          </a:solidFill>
                          <a:latin typeface="Calibri"/>
                        </a:rPr>
                        <a:t>MAE95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6B7A"/>
                          </a:solidFill>
                          <a:latin typeface="Calibri"/>
                        </a:rPr>
                        <a:t>Медиана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6B7A"/>
                          </a:solidFill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Старый forecast_model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13,36%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7,29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5,58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3,09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10,74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Центральный SARIMA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42,46%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3,25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2,15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1,18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72033"/>
                          </a:solidFill>
                          <a:latin typeface="Calibri"/>
                        </a:rPr>
                        <a:t>6,30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72033"/>
                          </a:solidFill>
                          <a:latin typeface="Calibri"/>
                        </a:rPr>
                        <a:t>Адаптивный алгоритм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72033"/>
                          </a:solidFill>
                          <a:latin typeface="Calibri"/>
                        </a:rPr>
                        <a:t>15,09%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72033"/>
                          </a:solidFill>
                          <a:latin typeface="Calibri"/>
                        </a:rPr>
                        <a:t>6,21 млн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72033"/>
                          </a:solidFill>
                          <a:latin typeface="Calibri"/>
                        </a:rPr>
                        <a:t>4,47 млн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72033"/>
                          </a:solidFill>
                          <a:latin typeface="Calibri"/>
                        </a:rPr>
                        <a:t>2,47 млн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72033"/>
                          </a:solidFill>
                          <a:latin typeface="Calibri"/>
                        </a:rPr>
                        <a:t>9,20 млн</a:t>
                      </a: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F6B4A"/>
                </a:solidFill>
                <a:latin typeface="Calibri"/>
              </a:rPr>
              <a:t>Улучшение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1F6B4A"/>
                </a:solidFill>
                <a:latin typeface="Calibri"/>
              </a:rPr>
              <a:t>При 15,09% невыдач MAE −15%, MAE95 −20%, медиана −20%. Смещение также уменьшилось.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29768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A5A12"/>
                </a:solidFill>
                <a:latin typeface="Calibri"/>
              </a:rPr>
              <a:t>Дополнительно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8A5A12"/>
                </a:solidFill>
                <a:latin typeface="Calibri"/>
              </a:rPr>
              <a:t>P90 снизился с 10,74 до 9,20 млн — улучшение и в верхней части распределения ошибок.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Кассовая потребность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57A7"/>
                </a:solidFill>
                <a:latin typeface="Calibri"/>
              </a:rPr>
              <a:t>2. ЧТО ПРОГНОЗИРУЕТСЯ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Calibri"/>
              </a:rPr>
              <a:t>Ключевые понятия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72033"/>
                </a:solidFill>
                <a:latin typeface="Calibri"/>
              </a:rPr>
              <a:t>atdtmco_ns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Минимальная потребность кассы за день. Значения отрицательные: чем меньше число, тем больше потребность.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325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72033"/>
                </a:solidFill>
                <a:latin typeface="Calibri"/>
              </a:rPr>
              <a:t>atdtmco_saldo_turn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Дневной денежный поток. Прогнозируется отдельно как временной ряд.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72033"/>
                </a:solidFill>
                <a:latin typeface="Calibri"/>
              </a:rPr>
              <a:t>Невыдача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Факт оказался более отрицательным, чем прогноз: fact &lt; prediction. Предусмотренного объёма не хватило.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5176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72033"/>
                </a:solidFill>
                <a:latin typeface="Calibri"/>
              </a:rPr>
              <a:t>T−2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Для скоринга на дату D разрешены факты не позднее D−2. Будущие данные не используются.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72033"/>
                </a:solidFill>
                <a:latin typeface="Calibri"/>
              </a:rPr>
              <a:t>Central SARIMA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Точечный прогноз до консервативной поправки на риск невыдачи.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977639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72033"/>
                </a:solidFill>
                <a:latin typeface="Calibri"/>
              </a:rPr>
              <a:t>Scale кассы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Медиана |NS| по отрицательным фактам кассы за последние 224 дня. Делает ошибки разных касс сопоставимыми.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94960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5A12"/>
                </a:solidFill>
                <a:latin typeface="Calibri"/>
              </a:rPr>
              <a:t>Знак NS важно не перепутать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8A5A12"/>
                </a:solidFill>
                <a:latin typeface="Calibri"/>
              </a:rPr>
              <a:t>Факт −12 млн хуже прогноза −10 млн: касса потребовала на 2 млн больше, чем было предусмотрено.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Кассовая потребность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57A7"/>
                </a:solidFill>
                <a:latin typeface="Calibri"/>
              </a:rPr>
              <a:t>3. ПОЛНЫЙ ПОТОК РАСЧЁТА НА ДАТУ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Calibri"/>
              </a:rPr>
              <a:t>Шесть шагов алгоритма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457A7"/>
                </a:solidFill>
                <a:latin typeface="Calibri"/>
              </a:rPr>
              <a:t>1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72033"/>
                </a:solidFill>
                <a:latin typeface="Calibri"/>
              </a:rPr>
              <a:t>Подготовить историю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Данные до D−2. Закрытые дни остаются NaN, а не искусственными нулями.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457A7"/>
                </a:solidFill>
                <a:latin typeface="Calibri"/>
              </a:rPr>
              <a:t>2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72033"/>
                </a:solidFill>
                <a:latin typeface="Calibri"/>
              </a:rPr>
              <a:t>Central SARIMA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На последних 12 месяцах строится центральный прогноз с недельной сезонностью.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59" y="13716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457A7"/>
                </a:solidFill>
                <a:latin typeface="Calibri"/>
              </a:rPr>
              <a:t>3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72033"/>
                </a:solidFill>
                <a:latin typeface="Calibri"/>
              </a:rPr>
              <a:t>Собрать ошибки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Только ошибки прошлых прогнозов, факт которых уже доступен на текущем D−2.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1188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457A7"/>
                </a:solidFill>
                <a:latin typeface="Calibri"/>
              </a:rPr>
              <a:t>4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72033"/>
                </a:solidFill>
                <a:latin typeface="Calibri"/>
              </a:rPr>
              <a:t>Нормировать и объединить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Ошибки делятся на scale кассы. Общая история смешивается с историей конкретной кассы.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61188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457A7"/>
                </a:solidFill>
                <a:latin typeface="Calibri"/>
              </a:rPr>
              <a:t>5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72033"/>
                </a:solidFill>
                <a:latin typeface="Calibri"/>
              </a:rPr>
              <a:t>Адаптивный квантиль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Из распределения ошибок берётся текущий квантиль отдельно для каждого горизонта.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361188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457A7"/>
                </a:solidFill>
                <a:latin typeface="Calibri"/>
              </a:rPr>
              <a:t>6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72033"/>
                </a:solidFill>
                <a:latin typeface="Calibri"/>
              </a:rPr>
              <a:t>Сформировать прогноз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5F6B7A"/>
                </a:solidFill>
                <a:latin typeface="Calibri"/>
              </a:rPr>
              <a:t>Поправка × scale добавляется к central SARIMA. На закрытый день прогноз =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Кассовая потребность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57A7"/>
                </a:solidFill>
                <a:latin typeface="Calibri"/>
              </a:rPr>
              <a:t>КОРОТКИЙ ИТОГ ДЛЯ ОБСУЖДЕНИЯ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Calibri"/>
              </a:rPr>
              <a:t>Что важно запомнить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72033"/>
                </a:solidFill>
                <a:latin typeface="Calibri"/>
              </a:rPr>
              <a:t>1. Цель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F6B7A"/>
                </a:solidFill>
                <a:latin typeface="Calibri"/>
              </a:rPr>
              <a:t>Держать невыдачи около 15% и снижать типичную ошибку относительно старого алгоритма.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371600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72033"/>
                </a:solidFill>
                <a:latin typeface="Calibri"/>
              </a:rPr>
              <a:t>2. Как это устроено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F6B7A"/>
                </a:solidFill>
                <a:latin typeface="Calibri"/>
              </a:rPr>
              <a:t>SARIMA даёт центр. Иерархическая поправка по ошибкам всех касс и конкретной кассы делает прогноз консервативнее.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72033"/>
                </a:solidFill>
                <a:latin typeface="Calibri"/>
              </a:rPr>
              <a:t>3. Честный ретро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F6B7A"/>
                </a:solidFill>
                <a:latin typeface="Calibri"/>
              </a:rPr>
              <a:t>Каждый день использует только данные до T−2. Параметры окна и стягивания выбирались до тестового периода.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108960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72033"/>
                </a:solidFill>
                <a:latin typeface="Calibri"/>
              </a:rPr>
              <a:t>4. Результат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F6B7A"/>
                </a:solidFill>
                <a:latin typeface="Calibri"/>
              </a:rPr>
              <a:t>15,09% невыдач, MAE −15%, MAE95 −20%, P90 −14% к старой модели на периоде 15.04–15.06.2026.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172033"/>
                </a:solidFill>
                <a:latin typeface="Calibri"/>
              </a:rPr>
              <a:t>Выбранные параметры: </a:t>
            </a:r>
            <a:r>
              <a:rPr sz="1600" b="1">
                <a:solidFill>
                  <a:srgbClr val="172033"/>
                </a:solidFill>
                <a:latin typeface="Calibri"/>
              </a:rPr>
              <a:t>окно ошибок и scale = 224 дня, сила стягивания = 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Кассовая потребность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